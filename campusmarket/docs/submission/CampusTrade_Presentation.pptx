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CampusTrade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Software Architecture Project-Based Examination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Spring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trusted marketplace for campus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Buy, sell, discover, negotiate, and report in one campus context</a:t>
            </a:r>
          </a:p>
          <a:p>
            <a:pPr lvl="0"/>
            <a:r>
              <a:rPr/>
              <a:t>Production: </a:t>
            </a:r>
            <a:r>
              <a:rPr>
                <a:latin typeface="Courier"/>
              </a:rPr>
              <a:t>http://4.168.192.5</a:t>
            </a:r>
          </a:p>
          <a:p>
            <a:pPr lvl="0"/>
            <a:r>
              <a:rPr/>
              <a:t>Nine backend capabilities behind one secured API gateway</a:t>
            </a:r>
          </a:p>
          <a:p>
            <a:pPr lvl="0"/>
            <a:r>
              <a:rPr/>
              <a:t>Deployed with K3s, Jenkins, Ansible, Prometheus, Grafana, and SonarQube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and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Problem</a:t>
            </a:r>
          </a:p>
          <a:p>
            <a:pPr lvl="0"/>
            <a:r>
              <a:rPr/>
              <a:t>General marketplaces lack campus location, trust, and fast local discovery</a:t>
            </a:r>
          </a:p>
          <a:p>
            <a:pPr lvl="0"/>
            <a:r>
              <a:rPr/>
              <a:t>Negotiation and safety signals are fragmented</a:t>
            </a:r>
          </a:p>
          <a:p>
            <a:pPr lvl="0"/>
            <a:r>
              <a:rPr/>
              <a:t>Operators need evidence, not only working screens</a:t>
            </a:r>
          </a:p>
          <a:p>
            <a:pPr lvl="0" indent="0" marL="0">
              <a:buNone/>
            </a:pPr>
            <a:r>
              <a:rPr b="1"/>
              <a:t>Users</a:t>
            </a:r>
          </a:p>
          <a:p>
            <a:pPr lvl="0"/>
            <a:r>
              <a:rPr/>
              <a:t>Visitors and students</a:t>
            </a:r>
          </a:p>
          <a:p>
            <a:pPr lvl="0"/>
            <a:r>
              <a:rPr/>
              <a:t>Buyers and sellers</a:t>
            </a:r>
          </a:p>
          <a:p>
            <a:pPr lvl="0"/>
            <a:r>
              <a:rPr/>
              <a:t>Moderators and administrators</a:t>
            </a:r>
          </a:p>
          <a:p>
            <a:pPr lvl="0"/>
            <a:r>
              <a:rPr/>
              <a:t>DevOps/operator stakeholders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Authentication, profiles, reviews, and transaction history</a:t>
            </a:r>
          </a:p>
          <a:p>
            <a:pPr lvl="0"/>
            <a:r>
              <a:rPr/>
              <a:t>Listings, images, campus zones, conditions, and wishlists</a:t>
            </a:r>
          </a:p>
          <a:p>
            <a:pPr lvl="0"/>
            <a:r>
              <a:rPr/>
              <a:t>Full-text search, suggestions, filters, and trending discovery</a:t>
            </a:r>
          </a:p>
          <a:p>
            <a:pPr lvl="0"/>
            <a:r>
              <a:rPr/>
              <a:t>Offers, counters, conversations, and real-time messages</a:t>
            </a:r>
          </a:p>
          <a:p>
            <a:pPr lvl="0"/>
            <a:r>
              <a:rPr/>
              <a:t>In-app/email/push notifications</a:t>
            </a:r>
          </a:p>
          <a:p>
            <a:pPr lvl="0"/>
            <a:r>
              <a:rPr/>
              <a:t>Reports, auto-hide rules, fraud flags, and moderation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Innovation with human oversight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suggestion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Comparable transaction average × condition factor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Comparable count plus ±10% price band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Fraud signals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Low/high price and seller spam-rate rules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Weighted views and recent wishlist intent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Similar listings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Category, condition, and price-band retrieval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Client → Traefik → Frontend / API Gateway
                         ↓
 Auth · User · Listing · Chat · Admin · AI · Search · Notification
                         ↓                 ↕
                    PostgreSQL          Redis</a:t>
            </a:r>
          </a:p>
          <a:p>
            <a:pPr lvl="0"/>
            <a:r>
              <a:rPr/>
              <a:t>API-gateway microservice architecture</a:t>
            </a:r>
          </a:p>
          <a:p>
            <a:pPr lvl="0"/>
            <a:r>
              <a:rPr/>
              <a:t>Event collaboration for notification, search indexing, and fraud workflows</a:t>
            </a:r>
          </a:p>
          <a:p>
            <a:pPr lvl="0"/>
            <a:r>
              <a:rPr/>
              <a:t>Shared relational store is a deliberate single-VPS trade-off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Production Kubernetes topology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Workloads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Frontend ×2, API gateway ×2, Traefik Ingress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Eight capability services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PostgreSQL and Redis StatefulSets with PVCs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Reliability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Probes, resources, PDBs, HPAs, rolling updates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Observability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Prometheus, Grafana, node-exporter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JWT authentication plus service-level role/ownership checks</a:t>
            </a:r>
          </a:p>
          <a:p>
            <a:pPr lvl="0"/>
            <a:r>
              <a:rPr/>
              <a:t>Allowlisted CORS, Helmet headers, request IDs, and rate limiting</a:t>
            </a:r>
          </a:p>
          <a:p>
            <a:pPr lvl="0"/>
            <a:r>
              <a:rPr/>
              <a:t>Parameterised SQL and generic production errors</a:t>
            </a:r>
          </a:p>
          <a:p>
            <a:pPr lvl="0"/>
            <a:r>
              <a:rPr/>
              <a:t>Numeric non-root application containers; privilege escalation disabled</a:t>
            </a:r>
          </a:p>
          <a:p>
            <a:pPr lvl="0"/>
            <a:r>
              <a:rPr/>
              <a:t>Baseline Pod Security for the application namespace</a:t>
            </a:r>
          </a:p>
          <a:p>
            <a:pPr lvl="0"/>
            <a:r>
              <a:rPr/>
              <a:t>Encrypted Jenkins credentials and protected VPS environment files</a:t>
            </a:r>
          </a:p>
          <a:p>
            <a:pPr lvl="0"/>
            <a:r>
              <a:rPr/>
              <a:t>Admin tools bound to VPS loopback and reached through SSH tunnelling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Ansible and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Provision playbook</a:t>
            </a:r>
          </a:p>
          <a:p>
            <a:pPr lvl="0"/>
            <a:r>
              <a:rPr/>
              <a:t>Packages, kernel limits, groups, restricted Jenkins sudo rules</a:t>
            </a:r>
          </a:p>
          <a:p>
            <a:pPr lvl="0"/>
            <a:r>
              <a:rPr/>
              <a:t>Checksum-pinned K3s binary and systemd service</a:t>
            </a:r>
          </a:p>
          <a:p>
            <a:pPr lvl="0"/>
            <a:r>
              <a:rPr/>
              <a:t>Protected directories and readiness proof</a:t>
            </a:r>
          </a:p>
          <a:p>
            <a:pPr lvl="0" indent="0" marL="0">
              <a:buNone/>
            </a:pPr>
            <a:r>
              <a:rPr b="1"/>
              <a:t>Deployment playbook</a:t>
            </a:r>
          </a:p>
          <a:p>
            <a:pPr lvl="0"/>
            <a:r>
              <a:rPr/>
              <a:t>Reviewed source synchronisation</a:t>
            </a:r>
          </a:p>
          <a:p>
            <a:pPr lvl="0"/>
            <a:r>
              <a:rPr/>
              <a:t>Immutable image import</a:t>
            </a:r>
          </a:p>
          <a:p>
            <a:pPr lvl="0"/>
            <a:r>
              <a:rPr/>
              <a:t>Declarative rollout and evidence output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 data cutover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Start K3s data StatefulSets while Compose remains live</a:t>
            </a:r>
          </a:p>
          <a:p>
            <a:pPr lvl="0" indent="-342900" marL="342900">
              <a:buAutoNum type="arabicPeriod"/>
            </a:pPr>
            <a:r>
              <a:rPr/>
              <a:t>Build ten application images on the VPS</a:t>
            </a:r>
          </a:p>
          <a:p>
            <a:pPr lvl="0" indent="-342900" marL="342900">
              <a:buAutoNum type="arabicPeriod"/>
            </a:pPr>
            <a:r>
              <a:rPr/>
              <a:t>Create timestamped custom PostgreSQL dump</a:t>
            </a:r>
          </a:p>
          <a:p>
            <a:pPr lvl="0" indent="-342900" marL="342900">
              <a:buAutoNum type="arabicPeriod"/>
            </a:pPr>
            <a:r>
              <a:rPr/>
              <a:t>Restore into the Kubernetes PVC</a:t>
            </a:r>
          </a:p>
          <a:p>
            <a:pPr lvl="0" indent="-342900" marL="342900">
              <a:buAutoNum type="arabicPeriod"/>
            </a:pPr>
            <a:r>
              <a:rPr/>
              <a:t>Stop Compose without deleting volumes</a:t>
            </a:r>
          </a:p>
          <a:p>
            <a:pPr lvl="0" indent="-342900" marL="342900">
              <a:buAutoNum type="arabicPeriod"/>
            </a:pPr>
            <a:r>
              <a:rPr/>
              <a:t>Roll out, probe, smoke-test, and mark cutover</a:t>
            </a:r>
          </a:p>
          <a:p>
            <a:pPr lvl="0" indent="-342900" marL="342900">
              <a:buAutoNum type="arabicPeriod"/>
            </a:pPr>
            <a:r>
              <a:rPr/>
              <a:t>Retain dump, volumes, and rollback script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Jenkins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Checkout → Config validation → Frontend gate → Backend + coverage
→ SonarQube gate → Images → Trivy → K3s rollout → Smoke → Evidence</a:t>
            </a:r>
          </a:p>
          <a:p>
            <a:pPr lvl="0"/>
            <a:r>
              <a:rPr/>
              <a:t>Pipeline stored as </a:t>
            </a:r>
            <a:r>
              <a:rPr>
                <a:latin typeface="Courier"/>
              </a:rPr>
              <a:t>Jenkinsfile</a:t>
            </a:r>
          </a:p>
          <a:p>
            <a:pPr lvl="0"/>
            <a:r>
              <a:rPr/>
              <a:t>GitHub polled every five minutes</a:t>
            </a:r>
          </a:p>
          <a:p>
            <a:pPr lvl="0"/>
            <a:r>
              <a:rPr/>
              <a:t>Main-branch production deploy only after every gate passes</a:t>
            </a:r>
          </a:p>
          <a:p>
            <a:pPr lvl="0"/>
            <a:r>
              <a:rPr/>
              <a:t>Artifacts: coverage, system information, documentation, deployment evidence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Automated test result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Aggregate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backend 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306 passing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92.49%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80.14%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80.30%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95.49%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Real production Express applications—not test-only clones</a:t>
            </a:r>
          </a:p>
          <a:p>
            <a:pPr lvl="0"/>
            <a:r>
              <a:rPr/>
              <a:t>Unit, integration, contract, security, deployment, and resilience checks</a:t>
            </a:r>
          </a:p>
          <a:p>
            <a:pPr lvl="0"/>
            <a:r>
              <a:rPr/>
              <a:t>Tampered JWT, hostile CORS, brute-force rate limit, ownership, admin role</a:t>
            </a:r>
          </a:p>
          <a:p>
            <a:pPr lvl="0"/>
            <a:r>
              <a:rPr/>
              <a:t>Redis/DB/init failures, push cleanup, event handlers, graceful shutdown</a:t>
            </a:r>
          </a:p>
          <a:p>
            <a:pPr lvl="0"/>
            <a:r>
              <a:rPr/>
              <a:t>Hosted OpenAPI contract tested at </a:t>
            </a:r>
            <a:r>
              <a:rPr>
                <a:latin typeface="Courier"/>
              </a:rPr>
              <a:t>/api/docs/openapi.yaml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Observability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Verified state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Prometheus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— 11/11 scrape targets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Grafana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— provisioned overview dashboard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node-exporter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Host CPU, memory, disk, load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SonarQube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— secured admin and Jenkins token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Jenkins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K3s, platform health, host and build information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Scrum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Sprint 1: marketplace foundation — 79/79 points</a:t>
            </a:r>
          </a:p>
          <a:p>
            <a:pPr lvl="0"/>
            <a:r>
              <a:rPr/>
              <a:t>Sprint 2: production architecture — 110/110 points</a:t>
            </a:r>
          </a:p>
          <a:p>
            <a:pPr lvl="0"/>
            <a:r>
              <a:rPr/>
              <a:t>Product backlog, sprint backlogs, burndowns, reviews, retrospectives</a:t>
            </a:r>
          </a:p>
          <a:p>
            <a:pPr lvl="0"/>
            <a:r>
              <a:rPr/>
              <a:t>Definition of Done requires tests, security, documentation, deployment, evidence, rollback</a:t>
            </a:r>
          </a:p>
          <a:p>
            <a:pPr lvl="0" indent="0" marL="0">
              <a:buNone/>
            </a:pPr>
            <a:r>
              <a:rPr/>
              <a:t>Retrospective actions directly corrected production-route testing and deployment configuration precedence.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and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Public application and API healthy on the VPS</a:t>
            </a:r>
          </a:p>
          <a:p>
            <a:pPr lvl="0"/>
            <a:r>
              <a:rPr/>
              <a:t>10/10 application deployments available</a:t>
            </a:r>
          </a:p>
          <a:p>
            <a:pPr lvl="0"/>
            <a:r>
              <a:rPr/>
              <a:t>Frontend 2/2 and API gateway 2/2</a:t>
            </a:r>
          </a:p>
          <a:p>
            <a:pPr lvl="0"/>
            <a:r>
              <a:rPr/>
              <a:t>PostgreSQL and Redis persistent StatefulSets ready</a:t>
            </a:r>
          </a:p>
          <a:p>
            <a:pPr lvl="0"/>
            <a:r>
              <a:rPr/>
              <a:t>Prometheus 11/11, Grafana UP, SonarQube UP</a:t>
            </a:r>
          </a:p>
          <a:p>
            <a:pPr lvl="0"/>
            <a:r>
              <a:rPr/>
              <a:t>Evidence retained at </a:t>
            </a:r>
            <a:r>
              <a:rPr>
                <a:latin typeface="Courier"/>
              </a:rPr>
              <a:t>/srv/campustrade/evidence/production-20260714</a:t>
            </a:r>
          </a:p>
          <a:p>
            <a:pPr lvl="0"/>
            <a:r>
              <a:rPr/>
              <a:t>OpenAPI, user, test, architecture, operations, and Scrum documentation complete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trade-offs</a:t>
            </a:r>
          </a:p>
          <a:p>
            <a:pPr lvl="0"/>
            <a:r>
              <a:rPr/>
              <a:t>One VPS cannot survive total host failure</a:t>
            </a:r>
          </a:p>
          <a:p>
            <a:pPr lvl="0"/>
            <a:r>
              <a:rPr/>
              <a:t>Shared database reduces cost but limits service data autonomy</a:t>
            </a:r>
          </a:p>
          <a:p>
            <a:pPr lvl="0"/>
            <a:r>
              <a:rPr/>
              <a:t>Redis pub/sub is non-durable</a:t>
            </a:r>
          </a:p>
          <a:p>
            <a:pPr lvl="0" indent="0" marL="0">
              <a:buNone/>
            </a:pPr>
            <a:r>
              <a:rPr b="1"/>
              <a:t>Next steps</a:t>
            </a:r>
          </a:p>
          <a:p>
            <a:pPr lvl="0"/>
            <a:r>
              <a:rPr/>
              <a:t>Domain + automated TLS</a:t>
            </a:r>
          </a:p>
          <a:p>
            <a:pPr lvl="0"/>
            <a:r>
              <a:rPr/>
              <a:t>Managed secrets and off-host backup/restore drill</a:t>
            </a:r>
          </a:p>
          <a:p>
            <a:pPr lvl="0"/>
            <a:r>
              <a:rPr/>
              <a:t>Multi-node Kubernetes</a:t>
            </a:r>
          </a:p>
          <a:p>
            <a:pPr lvl="0"/>
            <a:r>
              <a:rPr/>
              <a:t>Transactional outbox or durable broker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CampusTrade is both a working marketplace and a production architecture project.</a:t>
            </a:r>
          </a:p>
          <a:p>
            <a:pPr lvl="0" indent="0" marL="0">
              <a:buNone/>
            </a:pPr>
            <a:r>
              <a:rPr b="1"/>
              <a:t>Delivered:</a:t>
            </a:r>
            <a:r>
              <a:rPr/>
              <a:t> Scrum + microservices + event workflows + security + 80% coverage + Docker + Ansible + Jenkins + Kubernetes + Prometheus/Grafana + SonarQube + API/user/operations documentation + rollback.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http://4.168.192.5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CampusTrade</dc:title>
  <dc:creator>Software Architecture Project-Based Examination</dc:creator>
  <cp:keywords/>
  <dcterms:created xsi:type="dcterms:W3CDTF">2026-07-14T13:08:46Z</dcterms:created>
  <dcterms:modified xsi:type="dcterms:W3CDTF">2026-07-14T13:08:46Z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Spring 2026</vt:lpwstr>
  </property>
</Properties>
</file>